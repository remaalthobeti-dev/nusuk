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— نسّق، منصة التشغيل الذكية. فريق بطاقات نسك. Hackathon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المشكلة: فوضى العمليات. واتساب، Excel، مكالمات، ورق. لا توجد رؤية موحدة.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التحديات التشغيلية الأربعة: غياب الرؤية، تأخر القرار، ازدواجية الأعمال، صعوبة متابعة الفرق.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الحل: نسّق منصة واحدة تجمع جميع الإدارات — علاقات الشركات، المصنع، التوزيع، التشغيل، التقني، لوحة القيادة.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رحلة التشغيل: شركة الحج ← اعتماد ← إنتاج ← توزيع ← تسليم ← متابعة ← تقارير. كل خطوة موثقة في نسّق.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لوحة التحكم: رؤية شاملة وفورية. مؤشرات الأداء، حالة الفرق، المهام، الاجتماعات، التنبيهات.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مركز العمليات: إنجاز المهام ٨٤٪، نسبة الحضور ٩٢٪، معدل الاستجابة ٩٧٪. الضغط التشغيلي تحت السيطرة.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مساعد نسّق الذكي: يفهم العربية، يحلل الوضع، ينبئ بالضغط، يكشف الاختناقات، يقترح القرارات.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القيمة: رفع الكفاءة، تسريع القرار، تقليل التأخير، توحيد الإدارات، التحول الرقمي، تجربة الموظف.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الختام: حين تتناغم العمليات يصبح القرار أسرع. شكراً لكم. فريق بطاقات نسك، هاكاثون ٢٠٢٦.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ecc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117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72000" y="771750"/>
            <a:ext cx="3600000" cy="3600000"/>
          </a:xfrm>
          <a:prstGeom prst="ellipse">
            <a:avLst/>
          </a:prstGeom>
          <a:noFill/>
          <a:ln w="6350">
            <a:solidFill>
              <a:srgbClr val="C49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502920"/>
            <a:ext cx="822960" cy="822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0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000" b="1" i="0">
                <a:solidFill>
                  <a:srgbClr val="C49A3C"/>
                </a:solidFill>
                <a:latin typeface="Cairo"/>
                <a:lang val="ar-SA" altLang="ar-SA"/>
              </a:rPr>
              <a:t>Hackathon 2026  ·  فريق بطاقات نسك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874519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9600" b="1" i="0">
                <a:solidFill>
                  <a:srgbClr val="FFFFFF"/>
                </a:solidFill>
                <a:latin typeface="Cairo"/>
                <a:lang val="ar-SA" altLang="ar-SA"/>
              </a:rPr>
              <a:t>نسّق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2461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800" b="0" i="0">
                <a:solidFill>
                  <a:srgbClr val="CCCCC4"/>
                </a:solidFill>
                <a:latin typeface="Cairo"/>
                <a:lang val="ar-SA" altLang="ar-SA"/>
              </a:rPr>
              <a:t>منصة التشغيل الذكية لإدارة العمليات الموسمية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3822191"/>
            <a:ext cx="731520" cy="19050"/>
          </a:xfrm>
          <a:prstGeom prst="rect">
            <a:avLst/>
          </a:prstGeom>
          <a:solidFill>
            <a:srgbClr val="C4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39319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100" b="0">
                <a:solidFill>
                  <a:srgbClr val="AAAAA0"/>
                </a:solidFill>
                <a:latin typeface="Cairo"/>
                <a:lang val="ar-SA" altLang="ar-SA"/>
              </a:rPr>
              <a:t>فريق بطاقات نسك</a:t>
            </a:r>
          </a:p>
          <a:p>
            <a:pPr algn="ctr" rtl="1"/>
            <a:r>
              <a:rPr sz="600" b="0">
                <a:solidFill>
                  <a:srgbClr val="FFFFFF"/>
                </a:solidFill>
                <a:latin typeface="Cairo"/>
                <a:lang val="ar-SA" altLang="ar-SA"/>
              </a:rPr>
              <a:t/>
            </a:r>
          </a:p>
          <a:p>
            <a:pPr algn="ctr" rtl="1"/>
            <a:r>
              <a:rPr sz="1100" b="1">
                <a:solidFill>
                  <a:srgbClr val="C49A3C"/>
                </a:solidFill>
                <a:latin typeface="Cairo"/>
                <a:lang val="ar-SA" altLang="ar-SA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0" y="4114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900" b="1" i="0">
                <a:solidFill>
                  <a:srgbClr val="C49A3C"/>
                </a:solidFill>
                <a:latin typeface="Cairo"/>
                <a:lang val="ar-SA" altLang="ar-SA"/>
              </a:rPr>
              <a:t>المشكلة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0" y="795528"/>
            <a:ext cx="548640" cy="25400"/>
          </a:xfrm>
          <a:prstGeom prst="rect">
            <a:avLst/>
          </a:prstGeom>
          <a:solidFill>
            <a:srgbClr val="C4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0" y="868680"/>
            <a:ext cx="5669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5600" b="1" i="0">
                <a:solidFill>
                  <a:srgbClr val="0D2117"/>
                </a:solidFill>
                <a:latin typeface="Cairo"/>
                <a:lang val="ar-SA" altLang="ar-SA"/>
              </a:rPr>
              <a:t>قبل نسّق...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2396" y="1965960"/>
            <a:ext cx="1417320" cy="914400"/>
          </a:xfrm>
          <a:prstGeom prst="roundRect">
            <a:avLst>
              <a:gd name="adj" fmla="val 5000"/>
            </a:avLst>
          </a:prstGeom>
          <a:solidFill>
            <a:srgbClr val="F7F5EF"/>
          </a:solidFill>
          <a:ln w="635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2396" y="2057400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iro"/>
                <a:lang val="ar-SA" altLang="ar-SA"/>
              </a:rPr>
              <a:t>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2396" y="2487167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100" b="1" i="0">
                <a:solidFill>
                  <a:srgbClr val="3A3A35"/>
                </a:solidFill>
                <a:latin typeface="Cairo"/>
                <a:lang val="ar-SA" altLang="ar-SA"/>
              </a:rPr>
              <a:t>واتساب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72868" y="1965960"/>
            <a:ext cx="1417320" cy="914400"/>
          </a:xfrm>
          <a:prstGeom prst="roundRect">
            <a:avLst>
              <a:gd name="adj" fmla="val 5000"/>
            </a:avLst>
          </a:prstGeom>
          <a:solidFill>
            <a:srgbClr val="F7F5EF"/>
          </a:solidFill>
          <a:ln w="635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2868" y="2057400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iro"/>
                <a:lang val="ar-SA" altLang="ar-SA"/>
              </a:rPr>
              <a:t>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2868" y="2487167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100" b="1" i="0">
                <a:solidFill>
                  <a:srgbClr val="3A3A35"/>
                </a:solidFill>
                <a:latin typeface="Cairo"/>
                <a:lang val="ar-SA" altLang="ar-SA"/>
              </a:rPr>
              <a:t>Excel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63340" y="1965960"/>
            <a:ext cx="1417320" cy="914400"/>
          </a:xfrm>
          <a:prstGeom prst="roundRect">
            <a:avLst>
              <a:gd name="adj" fmla="val 5000"/>
            </a:avLst>
          </a:prstGeom>
          <a:solidFill>
            <a:srgbClr val="F7F5EF"/>
          </a:solidFill>
          <a:ln w="635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63340" y="2057400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iro"/>
                <a:lang val="ar-SA" altLang="ar-SA"/>
              </a:rPr>
              <a:t>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63340" y="2487167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100" b="1" i="0">
                <a:solidFill>
                  <a:srgbClr val="3A3A35"/>
                </a:solidFill>
                <a:latin typeface="Cairo"/>
                <a:lang val="ar-SA" altLang="ar-SA"/>
              </a:rPr>
              <a:t>مكالمات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53812" y="1965960"/>
            <a:ext cx="1417320" cy="914400"/>
          </a:xfrm>
          <a:prstGeom prst="roundRect">
            <a:avLst>
              <a:gd name="adj" fmla="val 5000"/>
            </a:avLst>
          </a:prstGeom>
          <a:solidFill>
            <a:srgbClr val="F7F5EF"/>
          </a:solidFill>
          <a:ln w="635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53812" y="2057400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iro"/>
                <a:lang val="ar-SA" altLang="ar-SA"/>
              </a:rPr>
              <a:t>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53812" y="2487167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100" b="1" i="0">
                <a:solidFill>
                  <a:srgbClr val="3A3A35"/>
                </a:solidFill>
                <a:latin typeface="Cairo"/>
                <a:lang val="ar-SA" altLang="ar-SA"/>
              </a:rPr>
              <a:t>اجتماعات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44284" y="1965960"/>
            <a:ext cx="1417320" cy="914400"/>
          </a:xfrm>
          <a:prstGeom prst="roundRect">
            <a:avLst>
              <a:gd name="adj" fmla="val 5000"/>
            </a:avLst>
          </a:prstGeom>
          <a:solidFill>
            <a:srgbClr val="F7F5EF"/>
          </a:solidFill>
          <a:ln w="635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44284" y="2057400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iro"/>
                <a:lang val="ar-SA" altLang="ar-SA"/>
              </a:rPr>
              <a:t>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44284" y="2487167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100" b="1" i="0">
                <a:solidFill>
                  <a:srgbClr val="3A3A35"/>
                </a:solidFill>
                <a:latin typeface="Cairo"/>
                <a:lang val="ar-SA" altLang="ar-SA"/>
              </a:rPr>
              <a:t>ورق وتقارير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090672"/>
            <a:ext cx="7680960" cy="1389888"/>
          </a:xfrm>
          <a:prstGeom prst="roundRect">
            <a:avLst>
              <a:gd name="adj" fmla="val 4000"/>
            </a:avLst>
          </a:prstGeom>
          <a:solidFill>
            <a:srgbClr val="0D2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3090672"/>
            <a:ext cx="7680960" cy="19050"/>
          </a:xfrm>
          <a:prstGeom prst="rect">
            <a:avLst/>
          </a:prstGeom>
          <a:solidFill>
            <a:srgbClr val="C4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246120"/>
            <a:ext cx="73152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0">
                <a:solidFill>
                  <a:srgbClr val="CCCCC0"/>
                </a:solidFill>
                <a:latin typeface="Cairo"/>
                <a:lang val="ar-SA" altLang="ar-SA"/>
              </a:rPr>
              <a:t>أثناء موسم الحج،</a:t>
            </a:r>
          </a:p>
          <a:p>
            <a:pPr algn="r" rtl="1"/>
            <a:r>
              <a:rPr sz="1600" b="1">
                <a:solidFill>
                  <a:srgbClr val="C49A3C"/>
                </a:solidFill>
                <a:latin typeface="Cairo"/>
                <a:lang val="ar-SA" altLang="ar-SA"/>
              </a:rPr>
              <a:t>تتوزع العمليات بين عشرات الإدارات،</a:t>
            </a:r>
          </a:p>
          <a:p>
            <a:pPr algn="r" rtl="1"/>
            <a:r>
              <a:rPr sz="1600" b="0">
                <a:solidFill>
                  <a:srgbClr val="CCCCC0"/>
                </a:solidFill>
                <a:latin typeface="Cairo"/>
                <a:lang val="ar-SA" altLang="ar-SA"/>
              </a:rPr>
              <a:t>كل فريق يعمل في عزلة. والقرار يتأخر. لا توجد رؤية موحدة.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0" y="4114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900" b="1" i="0">
                <a:solidFill>
                  <a:srgbClr val="C49A3C"/>
                </a:solidFill>
                <a:latin typeface="Cairo"/>
                <a:lang val="ar-SA" altLang="ar-SA"/>
              </a:rPr>
              <a:t>التحديات التشغيلية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0" y="795528"/>
            <a:ext cx="548640" cy="25400"/>
          </a:xfrm>
          <a:prstGeom prst="rect">
            <a:avLst/>
          </a:prstGeom>
          <a:solidFill>
            <a:srgbClr val="C4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0" y="868680"/>
            <a:ext cx="53949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4400" b="1" i="0">
                <a:solidFill>
                  <a:srgbClr val="0D2117"/>
                </a:solidFill>
                <a:latin typeface="Cairo"/>
                <a:lang val="ar-SA" altLang="ar-SA"/>
              </a:rPr>
              <a:t>ما الذي يعيق
العمل الميداني؟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240280"/>
            <a:ext cx="379476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441448"/>
            <a:ext cx="347472" cy="256032"/>
          </a:xfrm>
          <a:prstGeom prst="roundRect">
            <a:avLst>
              <a:gd name="adj" fmla="val 8000"/>
            </a:avLst>
          </a:prstGeom>
          <a:solidFill>
            <a:srgbClr val="0D2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441448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49A3C"/>
                </a:solidFill>
                <a:latin typeface="Cairo"/>
                <a:lang val="ar-SA" altLang="ar-SA"/>
              </a:rPr>
              <a:t>٠١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7063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1" i="0">
                <a:solidFill>
                  <a:srgbClr val="0D2117"/>
                </a:solidFill>
                <a:latin typeface="Cairo"/>
                <a:lang val="ar-SA" altLang="ar-SA"/>
              </a:rPr>
              <a:t>غياب الرؤية اللحظية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36392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0" i="0">
                <a:solidFill>
                  <a:srgbClr val="8A8A7F"/>
                </a:solidFill>
                <a:latin typeface="Cairo"/>
                <a:lang val="ar-SA" altLang="ar-SA"/>
              </a:rPr>
              <a:t>لا أحد يعرف ما يحدث في الميدان الآن.
البيانات تصل متأخرة وغير مكتملة.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2240280"/>
            <a:ext cx="379476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0" y="2441448"/>
            <a:ext cx="347472" cy="256032"/>
          </a:xfrm>
          <a:prstGeom prst="roundRect">
            <a:avLst>
              <a:gd name="adj" fmla="val 8000"/>
            </a:avLst>
          </a:prstGeom>
          <a:solidFill>
            <a:srgbClr val="0D2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2441448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49A3C"/>
                </a:solidFill>
                <a:latin typeface="Cairo"/>
                <a:lang val="ar-SA" altLang="ar-SA"/>
              </a:rPr>
              <a:t>٠٢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77063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1" i="0">
                <a:solidFill>
                  <a:srgbClr val="0D2117"/>
                </a:solidFill>
                <a:latin typeface="Cairo"/>
                <a:lang val="ar-SA" altLang="ar-SA"/>
              </a:rPr>
              <a:t>تأخر اتخاذ القرار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136392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0" i="0">
                <a:solidFill>
                  <a:srgbClr val="8A8A7F"/>
                </a:solidFill>
                <a:latin typeface="Cairo"/>
                <a:lang val="ar-SA" altLang="ar-SA"/>
              </a:rPr>
              <a:t>القائد يحتاج ساعات لتجميع المعلومات
قبل أي قرار. الفرصة تضيع في الانتظار.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840480"/>
            <a:ext cx="379476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4041648"/>
            <a:ext cx="347472" cy="256032"/>
          </a:xfrm>
          <a:prstGeom prst="roundRect">
            <a:avLst>
              <a:gd name="adj" fmla="val 8000"/>
            </a:avLst>
          </a:prstGeom>
          <a:solidFill>
            <a:srgbClr val="0D2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041648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49A3C"/>
                </a:solidFill>
                <a:latin typeface="Cairo"/>
                <a:lang val="ar-SA" altLang="ar-SA"/>
              </a:rPr>
              <a:t>٠٣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37083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1" i="0">
                <a:solidFill>
                  <a:srgbClr val="0D2117"/>
                </a:solidFill>
                <a:latin typeface="Cairo"/>
                <a:lang val="ar-SA" altLang="ar-SA"/>
              </a:rPr>
              <a:t>ازدواجية الأعمال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736592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0" i="0">
                <a:solidFill>
                  <a:srgbClr val="8A8A7F"/>
                </a:solidFill>
                <a:latin typeface="Cairo"/>
                <a:lang val="ar-SA" altLang="ar-SA"/>
              </a:rPr>
              <a:t>فريقان يؤديان نفس المهمة.
بيانات مكررة وجهد مهدر.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0" y="3840480"/>
            <a:ext cx="379476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754880" y="4041648"/>
            <a:ext cx="347472" cy="256032"/>
          </a:xfrm>
          <a:prstGeom prst="roundRect">
            <a:avLst>
              <a:gd name="adj" fmla="val 8000"/>
            </a:avLst>
          </a:prstGeom>
          <a:solidFill>
            <a:srgbClr val="0D2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4041648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49A3C"/>
                </a:solidFill>
                <a:latin typeface="Cairo"/>
                <a:lang val="ar-SA" altLang="ar-SA"/>
              </a:rPr>
              <a:t>٠٤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437083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1" i="0">
                <a:solidFill>
                  <a:srgbClr val="0D2117"/>
                </a:solidFill>
                <a:latin typeface="Cairo"/>
                <a:lang val="ar-SA" altLang="ar-SA"/>
              </a:rPr>
              <a:t>صعوبة متابعة الفرق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4736592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0" i="0">
                <a:solidFill>
                  <a:srgbClr val="8A8A7F"/>
                </a:solidFill>
                <a:latin typeface="Cairo"/>
                <a:lang val="ar-SA" altLang="ar-SA"/>
              </a:rPr>
              <a:t>مدير العمليات لا يعرف أين كل فريق.
الإدارة تعمل في الضبابية.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937760" y="45720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900" b="1" i="0">
                <a:solidFill>
                  <a:srgbClr val="C49A3C"/>
                </a:solidFill>
                <a:latin typeface="Cairo"/>
                <a:lang val="ar-SA" altLang="ar-SA"/>
              </a:rPr>
              <a:t>الحل</a:t>
            </a:r>
          </a:p>
        </p:txBody>
      </p:sp>
      <p:sp>
        <p:nvSpPr>
          <p:cNvPr id="4" name="Rectangle 3"/>
          <p:cNvSpPr/>
          <p:nvPr/>
        </p:nvSpPr>
        <p:spPr>
          <a:xfrm>
            <a:off x="7406640" y="841248"/>
            <a:ext cx="548640" cy="25400"/>
          </a:xfrm>
          <a:prstGeom prst="rect">
            <a:avLst/>
          </a:prstGeom>
          <a:solidFill>
            <a:srgbClr val="C4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0" y="91440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4400" b="1" i="0">
                <a:solidFill>
                  <a:srgbClr val="FFFFFF"/>
                </a:solidFill>
                <a:latin typeface="Cairo"/>
                <a:lang val="ar-SA" altLang="ar-SA"/>
              </a:rPr>
              <a:t>منصة واحدة
لكل الإدارات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237744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>
                <a:solidFill>
                  <a:srgbClr val="AAAAA0"/>
                </a:solidFill>
                <a:latin typeface="Cairo"/>
                <a:lang val="ar-SA" altLang="ar-SA"/>
              </a:rPr>
              <a:t>نسّق يجمع جميع فرق التشغيل في منصة موحدة.
رؤية كاملة، قرار فوري، تنسيق تلقائي.</a:t>
            </a:r>
          </a:p>
        </p:txBody>
      </p:sp>
      <p:sp>
        <p:nvSpPr>
          <p:cNvPr id="7" name="Oval 6"/>
          <p:cNvSpPr/>
          <p:nvPr/>
        </p:nvSpPr>
        <p:spPr>
          <a:xfrm>
            <a:off x="1691640" y="1977390"/>
            <a:ext cx="1188720" cy="1188720"/>
          </a:xfrm>
          <a:prstGeom prst="ellipse">
            <a:avLst/>
          </a:prstGeom>
          <a:solidFill>
            <a:srgbClr val="C4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91640" y="229743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800" b="1" i="0">
                <a:solidFill>
                  <a:srgbClr val="0D2117"/>
                </a:solidFill>
                <a:latin typeface="Cairo"/>
                <a:lang val="ar-SA" altLang="ar-SA"/>
              </a:rPr>
              <a:t>نسّق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2286000" y="1017270"/>
            <a:ext cx="0" cy="1554480"/>
          </a:xfrm>
          <a:prstGeom prst="line">
            <a:avLst/>
          </a:prstGeom>
          <a:ln w="9525">
            <a:solidFill>
              <a:srgbClr val="C49A3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901952" y="633222"/>
            <a:ext cx="768096" cy="768096"/>
          </a:xfrm>
          <a:prstGeom prst="ellipse">
            <a:avLst/>
          </a:prstGeom>
          <a:solidFill>
            <a:srgbClr val="1A3D28"/>
          </a:solidFill>
          <a:ln w="9525">
            <a:solidFill>
              <a:srgbClr val="C49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816102"/>
            <a:ext cx="1097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900" b="1" i="0">
                <a:solidFill>
                  <a:srgbClr val="C49A3C"/>
                </a:solidFill>
                <a:latin typeface="Cairo"/>
                <a:lang val="ar-SA" altLang="ar-SA"/>
              </a:rPr>
              <a:t>علاقات الشركات</a:t>
            </a:r>
          </a:p>
        </p:txBody>
      </p:sp>
      <p:cxnSp>
        <p:nvCxnSpPr>
          <p:cNvPr id="12" name="Connector 11"/>
          <p:cNvCxnSpPr/>
          <p:nvPr/>
        </p:nvCxnSpPr>
        <p:spPr>
          <a:xfrm flipH="1" flipV="1">
            <a:off x="939781" y="1794511"/>
            <a:ext cx="1346219" cy="777239"/>
          </a:xfrm>
          <a:prstGeom prst="line">
            <a:avLst/>
          </a:prstGeom>
          <a:ln w="9525">
            <a:solidFill>
              <a:srgbClr val="C49A3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555733" y="1410463"/>
            <a:ext cx="768096" cy="768096"/>
          </a:xfrm>
          <a:prstGeom prst="ellipse">
            <a:avLst/>
          </a:prstGeom>
          <a:solidFill>
            <a:srgbClr val="1A3D28"/>
          </a:solidFill>
          <a:ln w="9525">
            <a:solidFill>
              <a:srgbClr val="C49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1141" y="1593343"/>
            <a:ext cx="1097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900" b="1" i="0">
                <a:solidFill>
                  <a:srgbClr val="C49A3C"/>
                </a:solidFill>
                <a:latin typeface="Cairo"/>
                <a:lang val="ar-SA" altLang="ar-SA"/>
              </a:rPr>
              <a:t>المصنع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939781" y="2571750"/>
            <a:ext cx="1346219" cy="777240"/>
          </a:xfrm>
          <a:prstGeom prst="line">
            <a:avLst/>
          </a:prstGeom>
          <a:ln w="9525">
            <a:solidFill>
              <a:srgbClr val="C49A3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55733" y="2964942"/>
            <a:ext cx="768096" cy="768096"/>
          </a:xfrm>
          <a:prstGeom prst="ellipse">
            <a:avLst/>
          </a:prstGeom>
          <a:solidFill>
            <a:srgbClr val="1A3D28"/>
          </a:solidFill>
          <a:ln w="9525">
            <a:solidFill>
              <a:srgbClr val="C49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1141" y="3147822"/>
            <a:ext cx="1097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900" b="1" i="0">
                <a:solidFill>
                  <a:srgbClr val="C49A3C"/>
                </a:solidFill>
                <a:latin typeface="Cairo"/>
                <a:lang val="ar-SA" altLang="ar-SA"/>
              </a:rPr>
              <a:t>التوزيع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86000" y="2571750"/>
            <a:ext cx="0" cy="1554480"/>
          </a:xfrm>
          <a:prstGeom prst="line">
            <a:avLst/>
          </a:prstGeom>
          <a:ln w="9525">
            <a:solidFill>
              <a:srgbClr val="C49A3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1901952" y="3742182"/>
            <a:ext cx="768096" cy="768096"/>
          </a:xfrm>
          <a:prstGeom prst="ellipse">
            <a:avLst/>
          </a:prstGeom>
          <a:solidFill>
            <a:srgbClr val="1A3D28"/>
          </a:solidFill>
          <a:ln w="9525">
            <a:solidFill>
              <a:srgbClr val="C49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37360" y="3925062"/>
            <a:ext cx="1097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900" b="1" i="0">
                <a:solidFill>
                  <a:srgbClr val="C49A3C"/>
                </a:solidFill>
                <a:latin typeface="Cairo"/>
                <a:lang val="ar-SA" altLang="ar-SA"/>
              </a:rPr>
              <a:t>إدارة التشغيل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286000" y="2571750"/>
            <a:ext cx="1346219" cy="777240"/>
          </a:xfrm>
          <a:prstGeom prst="line">
            <a:avLst/>
          </a:prstGeom>
          <a:ln w="9525">
            <a:solidFill>
              <a:srgbClr val="C49A3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3248171" y="2964942"/>
            <a:ext cx="768096" cy="768096"/>
          </a:xfrm>
          <a:prstGeom prst="ellipse">
            <a:avLst/>
          </a:prstGeom>
          <a:solidFill>
            <a:srgbClr val="1A3D28"/>
          </a:solidFill>
          <a:ln w="9525">
            <a:solidFill>
              <a:srgbClr val="C49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83579" y="3147822"/>
            <a:ext cx="1097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900" b="1" i="0">
                <a:solidFill>
                  <a:srgbClr val="C49A3C"/>
                </a:solidFill>
                <a:latin typeface="Cairo"/>
                <a:lang val="ar-SA" altLang="ar-SA"/>
              </a:rPr>
              <a:t>الفريق التقني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2286000" y="1794510"/>
            <a:ext cx="1346219" cy="777240"/>
          </a:xfrm>
          <a:prstGeom prst="line">
            <a:avLst/>
          </a:prstGeom>
          <a:ln w="9525">
            <a:solidFill>
              <a:srgbClr val="C49A3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3248171" y="1410462"/>
            <a:ext cx="768096" cy="768096"/>
          </a:xfrm>
          <a:prstGeom prst="ellipse">
            <a:avLst/>
          </a:prstGeom>
          <a:solidFill>
            <a:srgbClr val="1A3D28"/>
          </a:solidFill>
          <a:ln w="9525">
            <a:solidFill>
              <a:srgbClr val="C49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83579" y="1593342"/>
            <a:ext cx="1097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900" b="1" i="0">
                <a:solidFill>
                  <a:srgbClr val="C49A3C"/>
                </a:solidFill>
                <a:latin typeface="Cairo"/>
                <a:lang val="ar-SA" altLang="ar-SA"/>
              </a:rPr>
              <a:t>لوحة القيادة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0" y="4114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900" b="1" i="0">
                <a:solidFill>
                  <a:srgbClr val="C49A3C"/>
                </a:solidFill>
                <a:latin typeface="Cairo"/>
                <a:lang val="ar-SA" altLang="ar-SA"/>
              </a:rPr>
              <a:t>رحلة التشغيل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0" y="795528"/>
            <a:ext cx="548640" cy="25400"/>
          </a:xfrm>
          <a:prstGeom prst="rect">
            <a:avLst/>
          </a:prstGeom>
          <a:solidFill>
            <a:srgbClr val="C4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868680"/>
            <a:ext cx="6583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4400" b="1" i="0">
                <a:solidFill>
                  <a:srgbClr val="0D2117"/>
                </a:solidFill>
                <a:latin typeface="Cairo"/>
                <a:lang val="ar-SA" altLang="ar-SA"/>
              </a:rPr>
              <a:t>من الطلب إلى التسليم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549254" y="2891790"/>
            <a:ext cx="428461" cy="0"/>
          </a:xfrm>
          <a:prstGeom prst="line">
            <a:avLst/>
          </a:prstGeom>
          <a:ln w="19050">
            <a:solidFill>
              <a:srgbClr val="C49A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854310" y="2544318"/>
            <a:ext cx="694944" cy="694944"/>
          </a:xfrm>
          <a:prstGeom prst="ellipse">
            <a:avLst/>
          </a:prstGeom>
          <a:solidFill>
            <a:srgbClr val="0D2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4310" y="2544318"/>
            <a:ext cx="694944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iro"/>
                <a:lang val="ar-SA" altLang="ar-SA"/>
              </a:rPr>
              <a:t>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1702" y="3330702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000" b="1" i="0">
                <a:solidFill>
                  <a:srgbClr val="0D2117"/>
                </a:solidFill>
                <a:latin typeface="Cairo"/>
                <a:lang val="ar-SA" altLang="ar-SA"/>
              </a:rPr>
              <a:t>شركة الحج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72659" y="2891790"/>
            <a:ext cx="428461" cy="0"/>
          </a:xfrm>
          <a:prstGeom prst="line">
            <a:avLst/>
          </a:prstGeom>
          <a:ln w="19050">
            <a:solidFill>
              <a:srgbClr val="C49A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977715" y="2544318"/>
            <a:ext cx="694944" cy="694944"/>
          </a:xfrm>
          <a:prstGeom prst="ellipse">
            <a:avLst/>
          </a:prstGeom>
          <a:solidFill>
            <a:srgbClr val="0D2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77715" y="2544318"/>
            <a:ext cx="694944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iro"/>
                <a:lang val="ar-SA" altLang="ar-SA"/>
              </a:rPr>
              <a:t>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85107" y="3330702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000" b="1" i="0">
                <a:solidFill>
                  <a:srgbClr val="0D2117"/>
                </a:solidFill>
                <a:latin typeface="Cairo"/>
                <a:lang val="ar-SA" altLang="ar-SA"/>
              </a:rPr>
              <a:t>اعتماد الطلب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796064" y="2891790"/>
            <a:ext cx="428461" cy="0"/>
          </a:xfrm>
          <a:prstGeom prst="line">
            <a:avLst/>
          </a:prstGeom>
          <a:ln w="19050">
            <a:solidFill>
              <a:srgbClr val="C49A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3101120" y="2544318"/>
            <a:ext cx="694944" cy="694944"/>
          </a:xfrm>
          <a:prstGeom prst="ellipse">
            <a:avLst/>
          </a:prstGeom>
          <a:solidFill>
            <a:srgbClr val="0D2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01120" y="2544318"/>
            <a:ext cx="694944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iro"/>
                <a:lang val="ar-SA" altLang="ar-SA"/>
              </a:rPr>
              <a:t>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08512" y="3330702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000" b="1" i="0">
                <a:solidFill>
                  <a:srgbClr val="0D2117"/>
                </a:solidFill>
                <a:latin typeface="Cairo"/>
                <a:lang val="ar-SA" altLang="ar-SA"/>
              </a:rPr>
              <a:t>الإنتاج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919469" y="2891790"/>
            <a:ext cx="428461" cy="0"/>
          </a:xfrm>
          <a:prstGeom prst="line">
            <a:avLst/>
          </a:prstGeom>
          <a:ln w="19050">
            <a:solidFill>
              <a:srgbClr val="C49A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4224525" y="2544318"/>
            <a:ext cx="694944" cy="694944"/>
          </a:xfrm>
          <a:prstGeom prst="ellipse">
            <a:avLst/>
          </a:prstGeom>
          <a:solidFill>
            <a:srgbClr val="0D2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24525" y="2544318"/>
            <a:ext cx="694944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iro"/>
                <a:lang val="ar-SA" altLang="ar-SA"/>
              </a:rPr>
              <a:t>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17" y="3330702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000" b="1" i="0">
                <a:solidFill>
                  <a:srgbClr val="0D2117"/>
                </a:solidFill>
                <a:latin typeface="Cairo"/>
                <a:lang val="ar-SA" altLang="ar-SA"/>
              </a:rPr>
              <a:t>التوزيع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42874" y="2891790"/>
            <a:ext cx="428461" cy="0"/>
          </a:xfrm>
          <a:prstGeom prst="line">
            <a:avLst/>
          </a:prstGeom>
          <a:ln w="19050">
            <a:solidFill>
              <a:srgbClr val="C49A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5347930" y="2544318"/>
            <a:ext cx="694944" cy="694944"/>
          </a:xfrm>
          <a:prstGeom prst="ellipse">
            <a:avLst/>
          </a:prstGeom>
          <a:solidFill>
            <a:srgbClr val="0D2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47930" y="2544318"/>
            <a:ext cx="694944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iro"/>
                <a:lang val="ar-SA" altLang="ar-SA"/>
              </a:rPr>
              <a:t>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55322" y="3330702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000" b="1" i="0">
                <a:solidFill>
                  <a:srgbClr val="0D2117"/>
                </a:solidFill>
                <a:latin typeface="Cairo"/>
                <a:lang val="ar-SA" altLang="ar-SA"/>
              </a:rPr>
              <a:t>التسليم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166279" y="2891790"/>
            <a:ext cx="428461" cy="0"/>
          </a:xfrm>
          <a:prstGeom prst="line">
            <a:avLst/>
          </a:prstGeom>
          <a:ln w="19050">
            <a:solidFill>
              <a:srgbClr val="C49A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6471335" y="2544318"/>
            <a:ext cx="694944" cy="694944"/>
          </a:xfrm>
          <a:prstGeom prst="ellipse">
            <a:avLst/>
          </a:prstGeom>
          <a:solidFill>
            <a:srgbClr val="0D2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71335" y="2544318"/>
            <a:ext cx="694944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iro"/>
                <a:lang val="ar-SA" altLang="ar-SA"/>
              </a:rPr>
              <a:t>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8727" y="3330702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000" b="1" i="0">
                <a:solidFill>
                  <a:srgbClr val="0D2117"/>
                </a:solidFill>
                <a:latin typeface="Cairo"/>
                <a:lang val="ar-SA" altLang="ar-SA"/>
              </a:rPr>
              <a:t>المتابعة</a:t>
            </a:r>
          </a:p>
        </p:txBody>
      </p:sp>
      <p:sp>
        <p:nvSpPr>
          <p:cNvPr id="30" name="Oval 29"/>
          <p:cNvSpPr/>
          <p:nvPr/>
        </p:nvSpPr>
        <p:spPr>
          <a:xfrm>
            <a:off x="7594740" y="2544318"/>
            <a:ext cx="694944" cy="694944"/>
          </a:xfrm>
          <a:prstGeom prst="ellipse">
            <a:avLst/>
          </a:prstGeom>
          <a:solidFill>
            <a:srgbClr val="0D2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94740" y="2544318"/>
            <a:ext cx="694944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iro"/>
                <a:lang val="ar-SA" altLang="ar-SA"/>
              </a:rPr>
              <a:t>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02132" y="3330702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000" b="1" i="0">
                <a:solidFill>
                  <a:srgbClr val="0D2117"/>
                </a:solidFill>
                <a:latin typeface="Cairo"/>
                <a:lang val="ar-SA" altLang="ar-SA"/>
              </a:rPr>
              <a:t>التقارير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286000" y="4069080"/>
            <a:ext cx="4572000" cy="457200"/>
          </a:xfrm>
          <a:prstGeom prst="roundRect">
            <a:avLst>
              <a:gd name="adj" fmla="val 8000"/>
            </a:avLst>
          </a:prstGeom>
          <a:solidFill>
            <a:srgbClr val="0D2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86000" y="4069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200" b="1" i="0">
                <a:solidFill>
                  <a:srgbClr val="FFFFFF"/>
                </a:solidFill>
                <a:latin typeface="Cairo"/>
                <a:lang val="ar-SA" altLang="ar-SA"/>
              </a:rPr>
              <a:t>كل خطوة موثقة ومتابَعة في نسّق بشكل لحظي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0" y="4114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900" b="1" i="0">
                <a:solidFill>
                  <a:srgbClr val="C49A3C"/>
                </a:solidFill>
                <a:latin typeface="Cairo"/>
                <a:lang val="ar-SA" altLang="ar-SA"/>
              </a:rPr>
              <a:t>المنصة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79" y="795528"/>
            <a:ext cx="548640" cy="25400"/>
          </a:xfrm>
          <a:prstGeom prst="rect">
            <a:avLst/>
          </a:prstGeom>
          <a:solidFill>
            <a:srgbClr val="C4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0" y="868680"/>
            <a:ext cx="3840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4400" b="1" i="0">
                <a:solidFill>
                  <a:srgbClr val="0D2117"/>
                </a:solidFill>
                <a:latin typeface="Cairo"/>
                <a:lang val="ar-SA" altLang="ar-SA"/>
              </a:rPr>
              <a:t>لوحة
التحكم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212848"/>
            <a:ext cx="3840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8A8A7F"/>
                </a:solidFill>
                <a:latin typeface="Cairo"/>
                <a:lang val="ar-SA" altLang="ar-SA"/>
              </a:rPr>
              <a:t>رؤية شاملة وفورية لكل العمليات.
كل قسم، كل مهمة، كل فريق في مكان واحد.</a:t>
            </a:r>
          </a:p>
        </p:txBody>
      </p:sp>
      <p:sp>
        <p:nvSpPr>
          <p:cNvPr id="7" name="Oval 6"/>
          <p:cNvSpPr/>
          <p:nvPr/>
        </p:nvSpPr>
        <p:spPr>
          <a:xfrm>
            <a:off x="8650224" y="3054096"/>
            <a:ext cx="109728" cy="109728"/>
          </a:xfrm>
          <a:prstGeom prst="ellipse">
            <a:avLst/>
          </a:prstGeom>
          <a:solidFill>
            <a:srgbClr val="C4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3017520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1" i="0">
                <a:solidFill>
                  <a:srgbClr val="0D2117"/>
                </a:solidFill>
                <a:latin typeface="Cairo"/>
                <a:lang val="ar-SA" altLang="ar-SA"/>
              </a:rPr>
              <a:t>مؤشرات الأداء اللحظية</a:t>
            </a:r>
          </a:p>
        </p:txBody>
      </p:sp>
      <p:sp>
        <p:nvSpPr>
          <p:cNvPr id="9" name="Oval 8"/>
          <p:cNvSpPr/>
          <p:nvPr/>
        </p:nvSpPr>
        <p:spPr>
          <a:xfrm>
            <a:off x="8650224" y="3328416"/>
            <a:ext cx="109728" cy="109728"/>
          </a:xfrm>
          <a:prstGeom prst="ellipse">
            <a:avLst/>
          </a:prstGeom>
          <a:solidFill>
            <a:srgbClr val="C4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3291840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1" i="0">
                <a:solidFill>
                  <a:srgbClr val="0D2117"/>
                </a:solidFill>
                <a:latin typeface="Cairo"/>
                <a:lang val="ar-SA" altLang="ar-SA"/>
              </a:rPr>
              <a:t>حالة الفرق والحضور</a:t>
            </a:r>
          </a:p>
        </p:txBody>
      </p:sp>
      <p:sp>
        <p:nvSpPr>
          <p:cNvPr id="11" name="Oval 10"/>
          <p:cNvSpPr/>
          <p:nvPr/>
        </p:nvSpPr>
        <p:spPr>
          <a:xfrm>
            <a:off x="8650224" y="3602736"/>
            <a:ext cx="109728" cy="109728"/>
          </a:xfrm>
          <a:prstGeom prst="ellipse">
            <a:avLst/>
          </a:prstGeom>
          <a:solidFill>
            <a:srgbClr val="C4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3566160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1" i="0">
                <a:solidFill>
                  <a:srgbClr val="0D2117"/>
                </a:solidFill>
                <a:latin typeface="Cairo"/>
                <a:lang val="ar-SA" altLang="ar-SA"/>
              </a:rPr>
              <a:t>المهام والاجتماعات</a:t>
            </a:r>
          </a:p>
        </p:txBody>
      </p:sp>
      <p:sp>
        <p:nvSpPr>
          <p:cNvPr id="13" name="Oval 12"/>
          <p:cNvSpPr/>
          <p:nvPr/>
        </p:nvSpPr>
        <p:spPr>
          <a:xfrm>
            <a:off x="8650224" y="3877056"/>
            <a:ext cx="109728" cy="109728"/>
          </a:xfrm>
          <a:prstGeom prst="ellipse">
            <a:avLst/>
          </a:prstGeom>
          <a:solidFill>
            <a:srgbClr val="C4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3840480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1" i="0">
                <a:solidFill>
                  <a:srgbClr val="0D2117"/>
                </a:solidFill>
                <a:latin typeface="Cairo"/>
                <a:lang val="ar-SA" altLang="ar-SA"/>
              </a:rPr>
              <a:t>تنبيهات ذكية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57200"/>
            <a:ext cx="4206240" cy="3474720"/>
          </a:xfrm>
          <a:prstGeom prst="roundRect">
            <a:avLst>
              <a:gd name="adj" fmla="val 3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694944"/>
            <a:ext cx="4059936" cy="3163824"/>
          </a:xfrm>
          <a:prstGeom prst="rect">
            <a:avLst/>
          </a:prstGeom>
        </p:spPr>
      </p:pic>
      <p:sp>
        <p:nvSpPr>
          <p:cNvPr id="17" name="Oval 16"/>
          <p:cNvSpPr/>
          <p:nvPr/>
        </p:nvSpPr>
        <p:spPr>
          <a:xfrm>
            <a:off x="2523744" y="512064"/>
            <a:ext cx="73152" cy="73152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931920"/>
            <a:ext cx="4206240" cy="109728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280160" y="4041648"/>
            <a:ext cx="2560320" cy="54864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74320" y="320040"/>
            <a:ext cx="1463040" cy="2926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32004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2117"/>
                </a:solidFill>
                <a:latin typeface="Cairo"/>
                <a:lang val="ar-SA" altLang="ar-SA"/>
              </a:rPr>
              <a:t>● رؤية لحظية ٢٤/٧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74720" y="3913632"/>
            <a:ext cx="1280160" cy="2926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0" y="3913632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2117"/>
                </a:solidFill>
                <a:latin typeface="Cairo"/>
                <a:lang val="ar-SA" altLang="ar-SA"/>
              </a:rPr>
              <a:t>● تحديث فوري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457200"/>
            <a:ext cx="4754880" cy="3657600"/>
          </a:xfrm>
          <a:prstGeom prst="roundRect">
            <a:avLst>
              <a:gd name="adj" fmla="val 3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per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" y="694944"/>
            <a:ext cx="4608576" cy="3346704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2752344" y="512064"/>
            <a:ext cx="73152" cy="73152"/>
          </a:xfrm>
          <a:prstGeom prst="ellipse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4114800"/>
            <a:ext cx="4754880" cy="10972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25880" y="4224528"/>
            <a:ext cx="2926080" cy="54864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0" y="41148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900" b="1" i="0">
                <a:solidFill>
                  <a:srgbClr val="C49A3C"/>
                </a:solidFill>
                <a:latin typeface="Cairo"/>
                <a:lang val="ar-SA" altLang="ar-SA"/>
              </a:rPr>
              <a:t>مركز العمليات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795528"/>
            <a:ext cx="548640" cy="25400"/>
          </a:xfrm>
          <a:prstGeom prst="rect">
            <a:avLst/>
          </a:prstGeom>
          <a:solidFill>
            <a:srgbClr val="C4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0" y="868680"/>
            <a:ext cx="3749039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4000" b="1" i="0">
                <a:solidFill>
                  <a:srgbClr val="FFFFFF"/>
                </a:solidFill>
                <a:latin typeface="Cairo"/>
                <a:lang val="ar-SA" altLang="ar-SA"/>
              </a:rPr>
              <a:t>الضغط التشغيلي
تحت السيطرة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233172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0" i="0">
                <a:solidFill>
                  <a:srgbClr val="888880"/>
                </a:solidFill>
                <a:latin typeface="Cairo"/>
                <a:lang val="ar-SA" altLang="ar-SA"/>
              </a:rPr>
              <a:t>إنجاز المهام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0" y="2624328"/>
            <a:ext cx="3474720" cy="91440"/>
          </a:xfrm>
          <a:prstGeom prst="rect">
            <a:avLst/>
          </a:prstGeom>
          <a:solidFill>
            <a:srgbClr val="1A3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76595" y="2624328"/>
            <a:ext cx="2918764" cy="91440"/>
          </a:xfrm>
          <a:prstGeom prst="rect">
            <a:avLst/>
          </a:prstGeom>
          <a:solidFill>
            <a:srgbClr val="C4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2752344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49A3C"/>
                </a:solidFill>
                <a:latin typeface="Cairo"/>
                <a:lang val="ar-SA" altLang="ar-SA"/>
              </a:rPr>
              <a:t>٨٤٪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310896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0" i="0">
                <a:solidFill>
                  <a:srgbClr val="888880"/>
                </a:solidFill>
                <a:latin typeface="Cairo"/>
                <a:lang val="ar-SA" altLang="ar-SA"/>
              </a:rPr>
              <a:t>نسبة الحضور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0640" y="3401568"/>
            <a:ext cx="3474720" cy="91440"/>
          </a:xfrm>
          <a:prstGeom prst="rect">
            <a:avLst/>
          </a:prstGeom>
          <a:solidFill>
            <a:srgbClr val="1A3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398617" y="3401568"/>
            <a:ext cx="3196742" cy="91440"/>
          </a:xfrm>
          <a:prstGeom prst="rect">
            <a:avLst/>
          </a:prstGeom>
          <a:solidFill>
            <a:srgbClr val="C4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0" y="3529584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49A3C"/>
                </a:solidFill>
                <a:latin typeface="Cairo"/>
                <a:lang val="ar-SA" altLang="ar-SA"/>
              </a:rPr>
              <a:t>٩٢٪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388620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0" i="0">
                <a:solidFill>
                  <a:srgbClr val="888880"/>
                </a:solidFill>
                <a:latin typeface="Cairo"/>
                <a:lang val="ar-SA" altLang="ar-SA"/>
              </a:rPr>
              <a:t>معدل الاستجابة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20640" y="4178808"/>
            <a:ext cx="3474720" cy="91440"/>
          </a:xfrm>
          <a:prstGeom prst="rect">
            <a:avLst/>
          </a:prstGeom>
          <a:solidFill>
            <a:srgbClr val="1A3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24881" y="4178808"/>
            <a:ext cx="3370478" cy="91440"/>
          </a:xfrm>
          <a:prstGeom prst="rect">
            <a:avLst/>
          </a:prstGeom>
          <a:solidFill>
            <a:srgbClr val="C4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0" y="4306824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49A3C"/>
                </a:solidFill>
                <a:latin typeface="Cairo"/>
                <a:lang val="ar-SA" altLang="ar-SA"/>
              </a:rPr>
              <a:t>٩٧٪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937760" y="4114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900" b="1" i="0">
                <a:solidFill>
                  <a:srgbClr val="C49A3C"/>
                </a:solidFill>
                <a:latin typeface="Cairo"/>
                <a:lang val="ar-SA" altLang="ar-SA"/>
              </a:rPr>
              <a:t>الذكاء الاصطناعي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79" y="795528"/>
            <a:ext cx="548640" cy="25400"/>
          </a:xfrm>
          <a:prstGeom prst="rect">
            <a:avLst/>
          </a:prstGeom>
          <a:solidFill>
            <a:srgbClr val="C4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663440" y="868680"/>
            <a:ext cx="42062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4400" b="1" i="0">
                <a:solidFill>
                  <a:srgbClr val="FFFFFF"/>
                </a:solidFill>
                <a:latin typeface="Cairo"/>
                <a:lang val="ar-SA" altLang="ar-SA"/>
              </a:rPr>
              <a:t>مساعد نسّق
الذكي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2304288"/>
            <a:ext cx="4206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>
                <a:solidFill>
                  <a:srgbClr val="AAAAA0"/>
                </a:solidFill>
                <a:latin typeface="Cairo"/>
                <a:lang val="ar-SA" altLang="ar-SA"/>
              </a:rPr>
              <a:t>يفهم العربية، يحلّل الوضع،
ويقترح القرارات قبل أن تحدث المشكلة.</a:t>
            </a:r>
          </a:p>
        </p:txBody>
      </p:sp>
      <p:sp>
        <p:nvSpPr>
          <p:cNvPr id="7" name="Oval 6"/>
          <p:cNvSpPr/>
          <p:nvPr/>
        </p:nvSpPr>
        <p:spPr>
          <a:xfrm>
            <a:off x="8650224" y="3145536"/>
            <a:ext cx="109728" cy="109728"/>
          </a:xfrm>
          <a:prstGeom prst="ellipse">
            <a:avLst/>
          </a:prstGeom>
          <a:solidFill>
            <a:srgbClr val="C4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3090672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CCCCC0"/>
                </a:solidFill>
                <a:latin typeface="Cairo"/>
                <a:lang val="ar-SA" altLang="ar-SA"/>
              </a:rPr>
              <a:t>التنبؤ بالضغط التشغيلي</a:t>
            </a:r>
          </a:p>
        </p:txBody>
      </p:sp>
      <p:sp>
        <p:nvSpPr>
          <p:cNvPr id="9" name="Oval 8"/>
          <p:cNvSpPr/>
          <p:nvPr/>
        </p:nvSpPr>
        <p:spPr>
          <a:xfrm>
            <a:off x="8650224" y="3438144"/>
            <a:ext cx="109728" cy="109728"/>
          </a:xfrm>
          <a:prstGeom prst="ellipse">
            <a:avLst/>
          </a:prstGeom>
          <a:solidFill>
            <a:srgbClr val="C4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3383280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CCCCC0"/>
                </a:solidFill>
                <a:latin typeface="Cairo"/>
                <a:lang val="ar-SA" altLang="ar-SA"/>
              </a:rPr>
              <a:t>اكتشاف الاختناقات فوراً</a:t>
            </a:r>
          </a:p>
        </p:txBody>
      </p:sp>
      <p:sp>
        <p:nvSpPr>
          <p:cNvPr id="11" name="Oval 10"/>
          <p:cNvSpPr/>
          <p:nvPr/>
        </p:nvSpPr>
        <p:spPr>
          <a:xfrm>
            <a:off x="8650224" y="3730752"/>
            <a:ext cx="109728" cy="109728"/>
          </a:xfrm>
          <a:prstGeom prst="ellipse">
            <a:avLst/>
          </a:prstGeom>
          <a:solidFill>
            <a:srgbClr val="C4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3675888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CCCCC0"/>
                </a:solidFill>
                <a:latin typeface="Cairo"/>
                <a:lang val="ar-SA" altLang="ar-SA"/>
              </a:rPr>
              <a:t>ملخص تنفيذي لحظي</a:t>
            </a:r>
          </a:p>
        </p:txBody>
      </p:sp>
      <p:sp>
        <p:nvSpPr>
          <p:cNvPr id="13" name="Oval 12"/>
          <p:cNvSpPr/>
          <p:nvPr/>
        </p:nvSpPr>
        <p:spPr>
          <a:xfrm>
            <a:off x="8650224" y="4023360"/>
            <a:ext cx="109728" cy="109728"/>
          </a:xfrm>
          <a:prstGeom prst="ellipse">
            <a:avLst/>
          </a:prstGeom>
          <a:solidFill>
            <a:srgbClr val="C4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3968496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CCCCC0"/>
                </a:solidFill>
                <a:latin typeface="Cairo"/>
                <a:lang val="ar-SA" altLang="ar-SA"/>
              </a:rPr>
              <a:t>اقتراحات ذكية قابلة للتنفيذ</a:t>
            </a:r>
          </a:p>
        </p:txBody>
      </p:sp>
      <p:sp>
        <p:nvSpPr>
          <p:cNvPr id="15" name="Oval 14"/>
          <p:cNvSpPr/>
          <p:nvPr/>
        </p:nvSpPr>
        <p:spPr>
          <a:xfrm>
            <a:off x="8650224" y="4315968"/>
            <a:ext cx="109728" cy="109728"/>
          </a:xfrm>
          <a:prstGeom prst="ellipse">
            <a:avLst/>
          </a:prstGeom>
          <a:solidFill>
            <a:srgbClr val="C4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4261104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CCCCC0"/>
                </a:solidFill>
                <a:latin typeface="Cairo"/>
                <a:lang val="ar-SA" altLang="ar-SA"/>
              </a:rPr>
              <a:t>إجابة أسئلة الإدارة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65760"/>
            <a:ext cx="4114800" cy="3840480"/>
          </a:xfrm>
          <a:prstGeom prst="roundRect">
            <a:avLst>
              <a:gd name="adj" fmla="val 4000"/>
            </a:avLst>
          </a:prstGeom>
          <a:solidFill>
            <a:srgbClr val="10281C"/>
          </a:solidFill>
          <a:ln w="9525">
            <a:solidFill>
              <a:srgbClr val="2A4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65760" y="365760"/>
            <a:ext cx="4114800" cy="502920"/>
          </a:xfrm>
          <a:prstGeom prst="roundRect">
            <a:avLst>
              <a:gd name="adj" fmla="val 4000"/>
            </a:avLst>
          </a:prstGeom>
          <a:solidFill>
            <a:srgbClr val="1A3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75488"/>
            <a:ext cx="3977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1" i="0">
                <a:solidFill>
                  <a:srgbClr val="FFFFFF"/>
                </a:solidFill>
                <a:latin typeface="Cairo"/>
                <a:lang val="ar-SA" altLang="ar-SA"/>
              </a:rPr>
              <a:t>✦  مساعد نسّق الذكي</a:t>
            </a:r>
          </a:p>
        </p:txBody>
      </p:sp>
      <p:sp>
        <p:nvSpPr>
          <p:cNvPr id="20" name="Oval 19"/>
          <p:cNvSpPr/>
          <p:nvPr/>
        </p:nvSpPr>
        <p:spPr>
          <a:xfrm>
            <a:off x="589788" y="562356"/>
            <a:ext cx="100584" cy="100584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53035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DE80"/>
                </a:solidFill>
                <a:latin typeface="Cairo"/>
                <a:lang val="ar-SA" altLang="ar-SA"/>
              </a:rPr>
              <a:t>متصل الآن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1024128"/>
            <a:ext cx="3520440" cy="384048"/>
          </a:xfrm>
          <a:prstGeom prst="roundRect">
            <a:avLst>
              <a:gd name="adj" fmla="val 6000"/>
            </a:avLst>
          </a:prstGeom>
          <a:solidFill>
            <a:srgbClr val="1E3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105156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0" i="0">
                <a:solidFill>
                  <a:srgbClr val="CCCCC0"/>
                </a:solidFill>
                <a:latin typeface="Cairo"/>
                <a:lang val="ar-SA" altLang="ar-SA"/>
              </a:rPr>
              <a:t>كيف وضع فرق التوزيع اليوم؟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1536192"/>
            <a:ext cx="3840480" cy="2240280"/>
          </a:xfrm>
          <a:prstGeom prst="roundRect">
            <a:avLst>
              <a:gd name="adj" fmla="val 6000"/>
            </a:avLst>
          </a:prstGeom>
          <a:solidFill>
            <a:srgbClr val="163022"/>
          </a:solidFill>
          <a:ln w="6350">
            <a:solidFill>
              <a:srgbClr val="C49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1600200"/>
            <a:ext cx="3749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1" i="0">
                <a:solidFill>
                  <a:srgbClr val="CCCCC0"/>
                </a:solidFill>
                <a:latin typeface="Cairo"/>
                <a:lang val="ar-SA" altLang="ar-SA"/>
              </a:rPr>
              <a:t>تحليل فرق التوزيع — اليوم الثلاثاء ١٤ ذو الحجة: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0352" y="1938528"/>
            <a:ext cx="1203960" cy="640080"/>
          </a:xfrm>
          <a:prstGeom prst="roundRect">
            <a:avLst>
              <a:gd name="adj" fmla="val 4000"/>
            </a:avLst>
          </a:prstGeom>
          <a:solidFill>
            <a:srgbClr val="1A3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" y="1975104"/>
            <a:ext cx="1203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49A3C"/>
                </a:solidFill>
                <a:latin typeface="Cairo"/>
                <a:lang val="ar-SA" altLang="ar-SA"/>
              </a:rPr>
              <a:t>٨٤٪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" y="2276856"/>
            <a:ext cx="1203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800" b="0" i="0">
                <a:solidFill>
                  <a:srgbClr val="888880"/>
                </a:solidFill>
                <a:latin typeface="Cairo"/>
                <a:lang val="ar-SA" altLang="ar-SA"/>
              </a:rPr>
              <a:t>إنجاز المهام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780032" y="1938528"/>
            <a:ext cx="1203960" cy="640080"/>
          </a:xfrm>
          <a:prstGeom prst="roundRect">
            <a:avLst>
              <a:gd name="adj" fmla="val 4000"/>
            </a:avLst>
          </a:prstGeom>
          <a:solidFill>
            <a:srgbClr val="1A3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80032" y="1975104"/>
            <a:ext cx="1203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87171"/>
                </a:solidFill>
                <a:latin typeface="Cairo"/>
                <a:lang val="ar-SA" altLang="ar-SA"/>
              </a:rPr>
              <a:t>مرتفع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80032" y="2276856"/>
            <a:ext cx="1203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800" b="0" i="0">
                <a:solidFill>
                  <a:srgbClr val="888880"/>
                </a:solidFill>
                <a:latin typeface="Cairo"/>
                <a:lang val="ar-SA" altLang="ar-SA"/>
              </a:rPr>
              <a:t>ضغط الشمال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029712" y="1938528"/>
            <a:ext cx="1203960" cy="640080"/>
          </a:xfrm>
          <a:prstGeom prst="roundRect">
            <a:avLst>
              <a:gd name="adj" fmla="val 4000"/>
            </a:avLst>
          </a:prstGeom>
          <a:solidFill>
            <a:srgbClr val="1A3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29712" y="1975104"/>
            <a:ext cx="1203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49A3C"/>
                </a:solidFill>
                <a:latin typeface="Cairo"/>
                <a:lang val="ar-SA" altLang="ar-SA"/>
              </a:rPr>
              <a:t>٣ موظفين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29712" y="2276856"/>
            <a:ext cx="1203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800" b="0" i="0">
                <a:solidFill>
                  <a:srgbClr val="888880"/>
                </a:solidFill>
                <a:latin typeface="Cairo"/>
                <a:lang val="ar-SA" altLang="ar-SA"/>
              </a:rPr>
              <a:t>توصية إعادة توزيع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2670048"/>
            <a:ext cx="3749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AAAA98"/>
                </a:solidFill>
                <a:latin typeface="Cairo"/>
                <a:lang val="ar-SA" altLang="ar-SA"/>
              </a:rPr>
              <a:t>✦ أنصح بنقل ٣ موظفين من القطاع الجنوبي إلى الشمالي.</a:t>
            </a:r>
          </a:p>
          <a:p>
            <a:pPr algn="r" rtl="1"/>
            <a:r>
              <a:rPr sz="1000" b="0">
                <a:solidFill>
                  <a:srgbClr val="AAAA98"/>
                </a:solidFill>
                <a:latin typeface="Cairo"/>
                <a:lang val="ar-SA" altLang="ar-SA"/>
              </a:rPr>
              <a:t>✦ تم إنشاء خطة توزيع جديدة تلقائياً.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3858768"/>
            <a:ext cx="3840480" cy="365760"/>
          </a:xfrm>
          <a:prstGeom prst="roundRect">
            <a:avLst>
              <a:gd name="adj" fmla="val 6000"/>
            </a:avLst>
          </a:prstGeom>
          <a:solidFill>
            <a:srgbClr val="1A3D28"/>
          </a:solidFill>
          <a:ln w="6350">
            <a:solidFill>
              <a:srgbClr val="2A4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" y="3877056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 i="0">
                <a:solidFill>
                  <a:srgbClr val="555550"/>
                </a:solidFill>
                <a:latin typeface="Cairo"/>
                <a:lang val="ar-SA" altLang="ar-SA"/>
              </a:rPr>
              <a:t>اسأل مساعد نسّق...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0" y="4114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900" b="1" i="0">
                <a:solidFill>
                  <a:srgbClr val="C49A3C"/>
                </a:solidFill>
                <a:latin typeface="Cairo"/>
                <a:lang val="ar-SA" altLang="ar-SA"/>
              </a:rPr>
              <a:t>القيمة المضافة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0" y="795528"/>
            <a:ext cx="548640" cy="25400"/>
          </a:xfrm>
          <a:prstGeom prst="rect">
            <a:avLst/>
          </a:prstGeom>
          <a:solidFill>
            <a:srgbClr val="C4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0" y="86868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4800" b="1" i="0">
                <a:solidFill>
                  <a:srgbClr val="0D2117"/>
                </a:solidFill>
                <a:latin typeface="Cairo"/>
                <a:lang val="ar-SA" altLang="ar-SA"/>
              </a:rPr>
              <a:t>لماذا نسّق؟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2560320" cy="12984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457200" cy="31750"/>
          </a:xfrm>
          <a:prstGeom prst="rect">
            <a:avLst/>
          </a:prstGeom>
          <a:solidFill>
            <a:srgbClr val="C4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 i="0">
                <a:solidFill>
                  <a:srgbClr val="0D2117"/>
                </a:solidFill>
                <a:latin typeface="Cairo"/>
                <a:lang val="ar-SA" altLang="ar-SA"/>
              </a:rPr>
              <a:t>رفع الكفاءة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395728"/>
            <a:ext cx="23591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 i="0">
                <a:solidFill>
                  <a:srgbClr val="8A8A7F"/>
                </a:solidFill>
                <a:latin typeface="Cairo"/>
                <a:lang val="ar-SA" altLang="ar-SA"/>
              </a:rPr>
              <a:t>توحيد العمليات يقضي على الازدواجية ويرفع الإنتاجية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828800"/>
            <a:ext cx="2560320" cy="12984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40" y="1828800"/>
            <a:ext cx="457200" cy="31750"/>
          </a:xfrm>
          <a:prstGeom prst="rect">
            <a:avLst/>
          </a:prstGeom>
          <a:solidFill>
            <a:srgbClr val="C4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2011680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 i="0">
                <a:solidFill>
                  <a:srgbClr val="0D2117"/>
                </a:solidFill>
                <a:latin typeface="Cairo"/>
                <a:lang val="ar-SA" altLang="ar-SA"/>
              </a:rPr>
              <a:t>تسريع القرار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01568" y="2395728"/>
            <a:ext cx="23591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 i="0">
                <a:solidFill>
                  <a:srgbClr val="8A8A7F"/>
                </a:solidFill>
                <a:latin typeface="Cairo"/>
                <a:lang val="ar-SA" altLang="ar-SA"/>
              </a:rPr>
              <a:t>البيانات اللحظية تجعل القرار في دقائق لا ساعات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1828800"/>
            <a:ext cx="2560320" cy="12984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828800"/>
            <a:ext cx="457200" cy="31750"/>
          </a:xfrm>
          <a:prstGeom prst="rect">
            <a:avLst/>
          </a:prstGeom>
          <a:solidFill>
            <a:srgbClr val="C4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2011680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 i="0">
                <a:solidFill>
                  <a:srgbClr val="0D2117"/>
                </a:solidFill>
                <a:latin typeface="Cairo"/>
                <a:lang val="ar-SA" altLang="ar-SA"/>
              </a:rPr>
              <a:t>تقليل التأخير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44768" y="2395728"/>
            <a:ext cx="23591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 i="0">
                <a:solidFill>
                  <a:srgbClr val="8A8A7F"/>
                </a:solidFill>
                <a:latin typeface="Cairo"/>
                <a:lang val="ar-SA" altLang="ar-SA"/>
              </a:rPr>
              <a:t>التنبيهات تكشف المشكلات قبل أن تتحول لتأخيرات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310128"/>
            <a:ext cx="2560320" cy="12984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310128"/>
            <a:ext cx="457200" cy="31750"/>
          </a:xfrm>
          <a:prstGeom prst="rect">
            <a:avLst/>
          </a:prstGeom>
          <a:solidFill>
            <a:srgbClr val="C4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493008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 i="0">
                <a:solidFill>
                  <a:srgbClr val="0D2117"/>
                </a:solidFill>
                <a:latin typeface="Cairo"/>
                <a:lang val="ar-SA" altLang="ar-SA"/>
              </a:rPr>
              <a:t>توحيد الإدارات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3877056"/>
            <a:ext cx="23591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 i="0">
                <a:solidFill>
                  <a:srgbClr val="8A8A7F"/>
                </a:solidFill>
                <a:latin typeface="Cairo"/>
                <a:lang val="ar-SA" altLang="ar-SA"/>
              </a:rPr>
              <a:t>جميع الفرق تعمل من منصة واحدة ببيانات متزامنة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91840" y="3310128"/>
            <a:ext cx="2560320" cy="12984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91840" y="3310128"/>
            <a:ext cx="457200" cy="31750"/>
          </a:xfrm>
          <a:prstGeom prst="rect">
            <a:avLst/>
          </a:prstGeom>
          <a:solidFill>
            <a:srgbClr val="C4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29000" y="3493008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 i="0">
                <a:solidFill>
                  <a:srgbClr val="0D2117"/>
                </a:solidFill>
                <a:latin typeface="Cairo"/>
                <a:lang val="ar-SA" altLang="ar-SA"/>
              </a:rPr>
              <a:t>التحول الرقمي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01568" y="3877056"/>
            <a:ext cx="23591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 i="0">
                <a:solidFill>
                  <a:srgbClr val="8A8A7F"/>
                </a:solidFill>
                <a:latin typeface="Cairo"/>
                <a:lang val="ar-SA" altLang="ar-SA"/>
              </a:rPr>
              <a:t>تحويل العمليات الورقية إلى منصة رقمية موثوقة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35040" y="3310128"/>
            <a:ext cx="2560320" cy="12984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35040" y="3310128"/>
            <a:ext cx="457200" cy="31750"/>
          </a:xfrm>
          <a:prstGeom prst="rect">
            <a:avLst/>
          </a:prstGeom>
          <a:solidFill>
            <a:srgbClr val="C4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72200" y="3493008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 i="0">
                <a:solidFill>
                  <a:srgbClr val="0D2117"/>
                </a:solidFill>
                <a:latin typeface="Cairo"/>
                <a:lang val="ar-SA" altLang="ar-SA"/>
              </a:rPr>
              <a:t>تجربة الموظف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44768" y="3877056"/>
            <a:ext cx="23591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 i="0">
                <a:solidFill>
                  <a:srgbClr val="8A8A7F"/>
                </a:solidFill>
                <a:latin typeface="Cairo"/>
                <a:lang val="ar-SA" altLang="ar-SA"/>
              </a:rPr>
              <a:t>واجهة بسيطة تجعل كل موظف يعمل بثقة وفاعلية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ecc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117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9100" y="594360"/>
            <a:ext cx="685800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71600" y="16002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2800" b="0" i="0">
                <a:solidFill>
                  <a:srgbClr val="CCCCC4"/>
                </a:solidFill>
                <a:latin typeface="Cairo"/>
                <a:lang val="ar-SA" altLang="ar-SA"/>
              </a:rPr>
              <a:t>حين تتناغم العمليات...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5200" b="1" i="0">
                <a:solidFill>
                  <a:srgbClr val="C49A3C"/>
                </a:solidFill>
                <a:latin typeface="Cairo"/>
                <a:lang val="ar-SA" altLang="ar-SA"/>
              </a:rPr>
              <a:t>يصبح القرار أسرع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0" y="3337560"/>
            <a:ext cx="1280160" cy="12700"/>
          </a:xfrm>
          <a:prstGeom prst="rect">
            <a:avLst/>
          </a:prstGeom>
          <a:solidFill>
            <a:srgbClr val="C4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352044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2200" b="1" i="0">
                <a:solidFill>
                  <a:srgbClr val="AAAAA0"/>
                </a:solidFill>
                <a:latin typeface="Cairo"/>
                <a:lang val="ar-SA" altLang="ar-SA"/>
              </a:rPr>
              <a:t>شكراً لكم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160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100" b="0" i="0">
                <a:solidFill>
                  <a:srgbClr val="887755"/>
                </a:solidFill>
                <a:latin typeface="Cairo"/>
                <a:lang val="ar-SA" altLang="ar-SA"/>
              </a:rPr>
              <a:t>فريق بطاقات نسك  ·  هاكاثون ٢٠٢٦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